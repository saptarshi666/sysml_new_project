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1620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SYSML Final Project Documentation.docx (uploaded by user)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SYSML Final Project Documentation.docx (TRIZ 9-box section)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SYSML Final Project Documentation.docx (Contradiction Matrix section)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SYSML Final Project Documentation.docx (System Context and Operating Environment diagrams)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SYSML Final Project Documentation.docx (Use Case diagrams)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SYSML Final Project Documentation.docx (Requirements diagrams + requirement text)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SYSML Final Project Documentation.docx (Functional requirements table + diagram)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SYSML Final Project Documentation.docx (Non-functional requirements table + diagram)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SYSML Final Project Documentation.docx (System logical architecture section + diagram)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SYSML Final Project Documentation.docx (Implementation scope + pipeline diagram + narrative)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SYSML Final Project Documentation.docx (Provider statecharts)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SYSML Final Project Documentation.docx (Subsystem statecharts + narrative)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SYSML Final Project Documentation.docx (Panel diagrams)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D8DE6-F172-19DC-75B8-2F8AD0C89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9A6131-F3B6-FAEA-7157-E098D92CB9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5BB685-24D7-75B0-4068-0BEBC63FF6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SYSML Final Project Documentation.docx (Panel diagrams)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94D61-D223-6F9C-2EC6-FA06A0FB9A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561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SYSML Final Project Documentation.docx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tuenl-my.sharepoint.com/:f:/r/personal/s_mondal_tue_nl/Documents/SYSML%20Video?csf=1&amp;web=1&amp;e=qTKS5P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0A3EA9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SYSML Final Project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Weather &amp; Tsunami Detection (SMSWTD)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728655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960120" y="2496312"/>
            <a:ext cx="102714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880360"/>
            <a:ext cx="1027145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minimize harm to lives, property, and infrastructure from severe weather events and tsunamis.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416052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covers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572000"/>
            <a:ext cx="10728655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TRIZ 9-box outlook (past → present → future)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 matrix + design trade-offs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context, use cases, and requirements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architecture, implemented pipeline, and statecharts</a:t>
            </a:r>
            <a:endParaRPr lang="en-US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DB475CC-C93F-3DE1-EC92-E89783FE5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6261" y="15023"/>
            <a:ext cx="3345739" cy="18137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A3EA9"/>
          </a:solidFill>
          <a:ln w="12700">
            <a:solidFill>
              <a:srgbClr val="0A3EA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94360" y="118872"/>
            <a:ext cx="110029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TRIZ 9-box: Past / Present / Future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822960"/>
            <a:ext cx="3667658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339333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(5 years)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62018" y="822960"/>
            <a:ext cx="3667658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4399178" y="914400"/>
            <a:ext cx="339333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929677" y="822960"/>
            <a:ext cx="3667658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8066837" y="914400"/>
            <a:ext cx="339333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(5 years)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1234440"/>
            <a:ext cx="2103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731520" y="13441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Super-system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697480" y="1234440"/>
            <a:ext cx="296661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2834640" y="1371600"/>
            <a:ext cx="269229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infrastructure; siloed agencies; manual coordination; one‑way comms; delayed warnings; limited real‑time access.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4098" y="1234440"/>
            <a:ext cx="296661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5801258" y="1371600"/>
            <a:ext cx="269229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preparedness ecosystem; coordinated agencies; real‑time sharing; multi‑channel alerts; ML‑enhanced prediction; public actionable insights.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630717" y="1234440"/>
            <a:ext cx="296661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Text 15"/>
          <p:cNvSpPr/>
          <p:nvPr/>
        </p:nvSpPr>
        <p:spPr>
          <a:xfrm>
            <a:off x="8767877" y="1371600"/>
            <a:ext cx="269229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AI‑driven global resilience network; autonomous prediction &amp; response; smart‑city integration; community risk profiling; global collaboration; planning influence.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360" y="2944368"/>
            <a:ext cx="2103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Text 17"/>
          <p:cNvSpPr/>
          <p:nvPr/>
        </p:nvSpPr>
        <p:spPr>
          <a:xfrm>
            <a:off x="731520" y="305409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697480" y="2944368"/>
            <a:ext cx="296661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1" name="Text 19"/>
          <p:cNvSpPr/>
          <p:nvPr/>
        </p:nvSpPr>
        <p:spPr>
          <a:xfrm>
            <a:off x="2834640" y="3081528"/>
            <a:ext cx="269229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basic met/ocean conditions; identify large seismic activity; broad forecasts using historical patterns; delayed general warnings.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4098" y="2944368"/>
            <a:ext cx="296661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Text 21"/>
          <p:cNvSpPr/>
          <p:nvPr/>
        </p:nvSpPr>
        <p:spPr>
          <a:xfrm>
            <a:off x="5801258" y="3081528"/>
            <a:ext cx="269229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Higher‑frequency sensing; early signs detection; moderate‑confidence impact/timing prediction; tailored alerts; dynamic risk based on severity &amp; exposure.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630717" y="2944368"/>
            <a:ext cx="296661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5" name="Text 23"/>
          <p:cNvSpPr/>
          <p:nvPr/>
        </p:nvSpPr>
        <p:spPr>
          <a:xfrm>
            <a:off x="8767877" y="3081528"/>
            <a:ext cx="269229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fine‑scale sensing; anticipate compound triggers; high‑confidence cascading/compound hazard prediction; context‑aware horizons (minutes→days).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4360" y="4654296"/>
            <a:ext cx="2103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Text 25"/>
          <p:cNvSpPr/>
          <p:nvPr/>
        </p:nvSpPr>
        <p:spPr>
          <a:xfrm>
            <a:off x="731520" y="476402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Sub-system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697480" y="4654296"/>
            <a:ext cx="296661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Text 27"/>
          <p:cNvSpPr/>
          <p:nvPr/>
        </p:nvSpPr>
        <p:spPr>
          <a:xfrm>
            <a:off x="2834640" y="4791456"/>
            <a:ext cx="269229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sensors; low‑res satellites; manual logging; separate compute platforms; sirens/radio; threshold logic; no centralized fusion.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664098" y="4654296"/>
            <a:ext cx="296661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1" name="Text 29"/>
          <p:cNvSpPr/>
          <p:nvPr/>
        </p:nvSpPr>
        <p:spPr>
          <a:xfrm>
            <a:off x="5801258" y="4791456"/>
            <a:ext cx="269229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Satellite/aircraft/underwater sensors; data fusion; ML analytics; SMS/app + gov APIs; cloud storage; health/diagnostics; dashboards; redundancy.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630717" y="4654296"/>
            <a:ext cx="296661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3" name="Text 31"/>
          <p:cNvSpPr/>
          <p:nvPr/>
        </p:nvSpPr>
        <p:spPr>
          <a:xfrm>
            <a:off x="8767877" y="4791456"/>
            <a:ext cx="269229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Self‑calibrating sensor mesh; edge compute; autonomous decision engine; automated alert generation &amp; personalization; self‑optimizing comms; enhanced accelerators.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94360" y="6537960"/>
            <a:ext cx="1100297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based on the project documentation TRIZ table.</a:t>
            </a:r>
            <a:endParaRPr lang="en-US" sz="10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CA6843A-9CCC-B551-42C7-A84872F34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8025" y="-60276"/>
            <a:ext cx="1313975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A3EA9"/>
          </a:solidFill>
          <a:ln w="12700">
            <a:solidFill>
              <a:srgbClr val="0A3EA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94360" y="118872"/>
            <a:ext cx="110029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TRIZ Contradiction Matrix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selection rationale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Improving: speed, reliability, accuracy, and automation (to reduce delay + human error).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Worsening constraints: energy loss, ease of operation, device complexity, and detect/measure difficulty.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2200595" cy="83210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704088" y="2404872"/>
            <a:ext cx="198113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↓ / Worsens →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94955" y="2331720"/>
            <a:ext cx="2200595" cy="83210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2904683" y="2404872"/>
            <a:ext cx="198113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Loss of Energy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995550" y="2331720"/>
            <a:ext cx="2200595" cy="83210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5105278" y="2404872"/>
            <a:ext cx="198113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Ease of operation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196145" y="2331720"/>
            <a:ext cx="2200595" cy="83210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7305873" y="2404872"/>
            <a:ext cx="198113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Device complexity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396740" y="2331720"/>
            <a:ext cx="2200595" cy="83210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9506468" y="2404872"/>
            <a:ext cx="198113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Difficulty of detecting/measuring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3163824"/>
            <a:ext cx="2200595" cy="83210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Text 15"/>
          <p:cNvSpPr/>
          <p:nvPr/>
        </p:nvSpPr>
        <p:spPr>
          <a:xfrm>
            <a:off x="704088" y="3236976"/>
            <a:ext cx="198113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Speed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794955" y="3163824"/>
            <a:ext cx="2200595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Text 17"/>
          <p:cNvSpPr/>
          <p:nvPr/>
        </p:nvSpPr>
        <p:spPr>
          <a:xfrm>
            <a:off x="2904683" y="3236976"/>
            <a:ext cx="198113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14, 20, 19, 35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95550" y="3163824"/>
            <a:ext cx="2200595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1" name="Text 19"/>
          <p:cNvSpPr/>
          <p:nvPr/>
        </p:nvSpPr>
        <p:spPr>
          <a:xfrm>
            <a:off x="5105278" y="3236976"/>
            <a:ext cx="198113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32, 28, 13, 12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96145" y="3163824"/>
            <a:ext cx="2200595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Text 21"/>
          <p:cNvSpPr/>
          <p:nvPr/>
        </p:nvSpPr>
        <p:spPr>
          <a:xfrm>
            <a:off x="7305873" y="3236976"/>
            <a:ext cx="198113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10, 28, 4, 34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396740" y="3163824"/>
            <a:ext cx="2200595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5" name="Text 23"/>
          <p:cNvSpPr/>
          <p:nvPr/>
        </p:nvSpPr>
        <p:spPr>
          <a:xfrm>
            <a:off x="9506468" y="3236976"/>
            <a:ext cx="198113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3, 34, 27, 16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" y="3995928"/>
            <a:ext cx="2200595" cy="83210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Text 25"/>
          <p:cNvSpPr/>
          <p:nvPr/>
        </p:nvSpPr>
        <p:spPr>
          <a:xfrm>
            <a:off x="704088" y="4069080"/>
            <a:ext cx="198113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Reliability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2794955" y="3995928"/>
            <a:ext cx="2200595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Text 27"/>
          <p:cNvSpPr/>
          <p:nvPr/>
        </p:nvSpPr>
        <p:spPr>
          <a:xfrm>
            <a:off x="2904683" y="4069080"/>
            <a:ext cx="198113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10, 11, 35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995550" y="3995928"/>
            <a:ext cx="2200595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1" name="Text 29"/>
          <p:cNvSpPr/>
          <p:nvPr/>
        </p:nvSpPr>
        <p:spPr>
          <a:xfrm>
            <a:off x="5105278" y="4069080"/>
            <a:ext cx="198113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27, 17, 40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196145" y="3995928"/>
            <a:ext cx="2200595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3" name="Text 31"/>
          <p:cNvSpPr/>
          <p:nvPr/>
        </p:nvSpPr>
        <p:spPr>
          <a:xfrm>
            <a:off x="7305873" y="4069080"/>
            <a:ext cx="198113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13, 35, 1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396740" y="3995928"/>
            <a:ext cx="2200595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5" name="Text 33"/>
          <p:cNvSpPr/>
          <p:nvPr/>
        </p:nvSpPr>
        <p:spPr>
          <a:xfrm>
            <a:off x="9506468" y="4069080"/>
            <a:ext cx="198113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27, 40, 28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94360" y="4828032"/>
            <a:ext cx="2200595" cy="83210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7" name="Text 35"/>
          <p:cNvSpPr/>
          <p:nvPr/>
        </p:nvSpPr>
        <p:spPr>
          <a:xfrm>
            <a:off x="704088" y="4901184"/>
            <a:ext cx="198113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Measurement accuracy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2794955" y="4828032"/>
            <a:ext cx="2200595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9" name="Text 37"/>
          <p:cNvSpPr/>
          <p:nvPr/>
        </p:nvSpPr>
        <p:spPr>
          <a:xfrm>
            <a:off x="2904683" y="4901184"/>
            <a:ext cx="198113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26, 32, 27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995550" y="4828032"/>
            <a:ext cx="2200595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1" name="Text 39"/>
          <p:cNvSpPr/>
          <p:nvPr/>
        </p:nvSpPr>
        <p:spPr>
          <a:xfrm>
            <a:off x="5105278" y="4901184"/>
            <a:ext cx="198113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1, 13, 17, 34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196145" y="4828032"/>
            <a:ext cx="2200595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3" name="Text 41"/>
          <p:cNvSpPr/>
          <p:nvPr/>
        </p:nvSpPr>
        <p:spPr>
          <a:xfrm>
            <a:off x="7305873" y="4901184"/>
            <a:ext cx="198113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27, 35, 10, 34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396740" y="4828032"/>
            <a:ext cx="2200595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5" name="Text 43"/>
          <p:cNvSpPr/>
          <p:nvPr/>
        </p:nvSpPr>
        <p:spPr>
          <a:xfrm>
            <a:off x="9506468" y="4901184"/>
            <a:ext cx="198113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26, 24, 32, 28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94360" y="5660136"/>
            <a:ext cx="2200595" cy="83210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7" name="Text 45"/>
          <p:cNvSpPr/>
          <p:nvPr/>
        </p:nvSpPr>
        <p:spPr>
          <a:xfrm>
            <a:off x="704088" y="5733288"/>
            <a:ext cx="198113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Extent of automation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2794955" y="5660136"/>
            <a:ext cx="2200595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9" name="Text 47"/>
          <p:cNvSpPr/>
          <p:nvPr/>
        </p:nvSpPr>
        <p:spPr>
          <a:xfrm>
            <a:off x="2904683" y="5733288"/>
            <a:ext cx="198113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23, 28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995550" y="5660136"/>
            <a:ext cx="2200595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1" name="Text 49"/>
          <p:cNvSpPr/>
          <p:nvPr/>
        </p:nvSpPr>
        <p:spPr>
          <a:xfrm>
            <a:off x="5105278" y="5733288"/>
            <a:ext cx="198113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1, 12, 34, 3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196145" y="5660136"/>
            <a:ext cx="2200595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3" name="Text 51"/>
          <p:cNvSpPr/>
          <p:nvPr/>
        </p:nvSpPr>
        <p:spPr>
          <a:xfrm>
            <a:off x="7305873" y="5733288"/>
            <a:ext cx="198113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15, 24, 10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9396740" y="5660136"/>
            <a:ext cx="2200595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5" name="Text 53"/>
          <p:cNvSpPr/>
          <p:nvPr/>
        </p:nvSpPr>
        <p:spPr>
          <a:xfrm>
            <a:off x="9506468" y="5733288"/>
            <a:ext cx="198113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34, 27, 25</a:t>
            </a:r>
            <a:endParaRPr lang="en-US" sz="1200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17418395-8747-582D-F84B-AC48B9A84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4845" y="0"/>
            <a:ext cx="1316850" cy="7132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A3EA9"/>
          </a:solidFill>
          <a:ln w="12700">
            <a:solidFill>
              <a:srgbClr val="0A3EA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94360" y="118872"/>
            <a:ext cx="110029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Context &amp; Operating Environment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82296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822960" y="9875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374904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SMSWTD interacts with physical, threat, operational, and communications environments and exchanges data/alerts with multiple external stakeholders.</a:t>
            </a:r>
            <a:endParaRPr lang="en-US" sz="1250" dirty="0"/>
          </a:p>
        </p:txBody>
      </p:sp>
      <p:pic>
        <p:nvPicPr>
          <p:cNvPr id="7" name="Image 0" descr="/mnt/data/doc_images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36817"/>
            <a:ext cx="5669280" cy="221316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2103120"/>
            <a:ext cx="5669280" cy="44805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9" name="Image 1" descr="/mnt/data/doc_images/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273295"/>
            <a:ext cx="5148072" cy="214021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46520" y="2103120"/>
            <a:ext cx="5148072" cy="44805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7"/>
          <p:cNvSpPr/>
          <p:nvPr/>
        </p:nvSpPr>
        <p:spPr>
          <a:xfrm>
            <a:off x="594360" y="1938528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environments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446520" y="1938528"/>
            <a:ext cx="5148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entities &amp; interfaces</a:t>
            </a: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65568B-3C14-3F47-7301-9666043AD8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4845" y="0"/>
            <a:ext cx="1316850" cy="7132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A3EA9"/>
          </a:solidFill>
          <a:ln w="12700">
            <a:solidFill>
              <a:srgbClr val="0A3EA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94360" y="118872"/>
            <a:ext cx="110029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2200" dirty="0"/>
          </a:p>
        </p:txBody>
      </p:sp>
      <p:pic>
        <p:nvPicPr>
          <p:cNvPr id="4" name="Image 0" descr="/mnt/data/doc_images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11668"/>
            <a:ext cx="5806440" cy="362902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868680"/>
            <a:ext cx="5806440" cy="5715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6" name="Image 1" descr="/mnt/data/doc_images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2319726"/>
            <a:ext cx="5486400" cy="281290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428232" y="868680"/>
            <a:ext cx="5486400" cy="5715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4"/>
          <p:cNvSpPr/>
          <p:nvPr/>
        </p:nvSpPr>
        <p:spPr>
          <a:xfrm>
            <a:off x="594360" y="685800"/>
            <a:ext cx="5806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alerting use cases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428232" y="68580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/ stakeholder interaction</a:t>
            </a:r>
            <a:endParaRPr lang="en-US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DD9E03-C03F-BAAB-F01C-AC7F269D8F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5150" y="4510"/>
            <a:ext cx="1316850" cy="7132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A3EA9"/>
          </a:solidFill>
          <a:ln w="12700">
            <a:solidFill>
              <a:srgbClr val="0A3EA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94360" y="118872"/>
            <a:ext cx="110029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Overview</a:t>
            </a:r>
            <a:endParaRPr lang="en-US" sz="2200" dirty="0"/>
          </a:p>
        </p:txBody>
      </p:sp>
      <p:pic>
        <p:nvPicPr>
          <p:cNvPr id="4" name="Image 0" descr="/mnt/data/doc_images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57736"/>
            <a:ext cx="4480560" cy="36454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960120"/>
            <a:ext cx="4480560" cy="5440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Shape 3"/>
          <p:cNvSpPr/>
          <p:nvPr/>
        </p:nvSpPr>
        <p:spPr>
          <a:xfrm>
            <a:off x="5257800" y="960120"/>
            <a:ext cx="63367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" name="Text 4"/>
          <p:cNvSpPr/>
          <p:nvPr/>
        </p:nvSpPr>
        <p:spPr>
          <a:xfrm>
            <a:off x="5486400" y="1124712"/>
            <a:ext cx="58795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0" y="1508760"/>
            <a:ext cx="587959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minimize harm to lives, property, and infrastructure from severe weather events and tsunamis.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257800" y="2971800"/>
            <a:ext cx="6336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257800" y="3383280"/>
            <a:ext cx="633679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requirements: sensing/ingestion, fusion, detection, prediction, risk assessment, and alert routing.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requirements: performance, reliability, security, usability, interoperability, maintainability, and operating constraints.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focus (time-boxed): raw data → risk analysis → alert generation pipeline.</a:t>
            </a:r>
            <a:endParaRPr lang="en-US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B14DAFF-D8A7-061B-41C1-197D2E0E0F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5150" y="0"/>
            <a:ext cx="1316850" cy="7132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A3EA9"/>
          </a:solidFill>
          <a:ln w="12700">
            <a:solidFill>
              <a:srgbClr val="0A3EA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94360" y="118872"/>
            <a:ext cx="110029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 (Highlights)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914400"/>
            <a:ext cx="5760720" cy="553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822960" y="107899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pipeline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1600200"/>
            <a:ext cx="1234440" cy="475488"/>
          </a:xfrm>
          <a:prstGeom prst="rect">
            <a:avLst/>
          </a:prstGeom>
          <a:solidFill>
            <a:srgbClr val="E8F0FF"/>
          </a:solidFill>
          <a:ln w="12700">
            <a:solidFill>
              <a:srgbClr val="C7DB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914400" y="170992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3E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FR-01/02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0" y="164592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Ingest met/ocean + seismic/tsunami observations</a:t>
            </a:r>
            <a:endParaRPr lang="en-US" sz="1300" dirty="0">
              <a:highlight>
                <a:srgbClr val="FFFF00"/>
              </a:highlight>
            </a:endParaRPr>
          </a:p>
        </p:txBody>
      </p:sp>
      <p:sp>
        <p:nvSpPr>
          <p:cNvPr id="9" name="Shape 7"/>
          <p:cNvSpPr/>
          <p:nvPr/>
        </p:nvSpPr>
        <p:spPr>
          <a:xfrm>
            <a:off x="914400" y="2258568"/>
            <a:ext cx="1234440" cy="475488"/>
          </a:xfrm>
          <a:prstGeom prst="rect">
            <a:avLst/>
          </a:prstGeom>
          <a:solidFill>
            <a:srgbClr val="E8F0FF"/>
          </a:solidFill>
          <a:ln w="12700">
            <a:solidFill>
              <a:srgbClr val="C7DB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914400" y="236829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3E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FR-03/04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230428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Timestamp, validate, and fuse multi-source data</a:t>
            </a:r>
            <a:endParaRPr lang="en-US" sz="1300" dirty="0">
              <a:highlight>
                <a:srgbClr val="FFFF00"/>
              </a:highlight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14400" y="2916936"/>
            <a:ext cx="1234440" cy="475488"/>
          </a:xfrm>
          <a:prstGeom prst="rect">
            <a:avLst/>
          </a:prstGeom>
          <a:solidFill>
            <a:srgbClr val="E8F0FF"/>
          </a:solidFill>
          <a:ln w="12700">
            <a:solidFill>
              <a:srgbClr val="C7DB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914400" y="302666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3E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FR-05/06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0" y="2962656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hazards; predict impact zones &amp; timing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3575304"/>
            <a:ext cx="1234440" cy="475488"/>
          </a:xfrm>
          <a:prstGeom prst="rect">
            <a:avLst/>
          </a:prstGeom>
          <a:solidFill>
            <a:srgbClr val="E8F0FF"/>
          </a:solidFill>
          <a:ln w="12700">
            <a:solidFill>
              <a:srgbClr val="C7DB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914400" y="368503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3E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FR-07/08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86000" y="3621024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Compute risk and provide confidence/rationale</a:t>
            </a:r>
            <a:endParaRPr lang="en-US" sz="1300" dirty="0">
              <a:highlight>
                <a:srgbClr val="FFFF00"/>
              </a:highlight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14400" y="4233672"/>
            <a:ext cx="1234440" cy="475488"/>
          </a:xfrm>
          <a:prstGeom prst="rect">
            <a:avLst/>
          </a:prstGeom>
          <a:solidFill>
            <a:srgbClr val="E8F0FF"/>
          </a:solidFill>
          <a:ln w="12700">
            <a:solidFill>
              <a:srgbClr val="C7DB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Text 17"/>
          <p:cNvSpPr/>
          <p:nvPr/>
        </p:nvSpPr>
        <p:spPr>
          <a:xfrm>
            <a:off x="914400" y="43434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3E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FR-09/10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86000" y="4279392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Generate actionable messages; route multi-channel</a:t>
            </a:r>
            <a:endParaRPr lang="en-US" sz="1300" dirty="0">
              <a:highlight>
                <a:srgbClr val="FFFF00"/>
              </a:highlight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14400" y="4892040"/>
            <a:ext cx="1234440" cy="475488"/>
          </a:xfrm>
          <a:prstGeom prst="rect">
            <a:avLst/>
          </a:prstGeom>
          <a:solidFill>
            <a:srgbClr val="E8F0FF"/>
          </a:solidFill>
          <a:ln w="12700">
            <a:solidFill>
              <a:srgbClr val="C7DB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/>
          <p:nvPr/>
        </p:nvSpPr>
        <p:spPr>
          <a:xfrm>
            <a:off x="914400" y="500176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3E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FR-11/12/17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86000" y="493776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Update/cancel alerts; track delivery; log events</a:t>
            </a:r>
            <a:endParaRPr lang="en-US" sz="1300" dirty="0">
              <a:highlight>
                <a:srgbClr val="FFFF00"/>
              </a:highlight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14400" y="5550408"/>
            <a:ext cx="1234440" cy="475488"/>
          </a:xfrm>
          <a:prstGeom prst="rect">
            <a:avLst/>
          </a:prstGeom>
          <a:solidFill>
            <a:srgbClr val="E8F0FF"/>
          </a:solidFill>
          <a:ln w="12700">
            <a:solidFill>
              <a:srgbClr val="C7DB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5" name="Text 23"/>
          <p:cNvSpPr/>
          <p:nvPr/>
        </p:nvSpPr>
        <p:spPr>
          <a:xfrm>
            <a:off x="914400" y="566013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3E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FR-14/15/16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286000" y="559612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for authorities; researcher queries; maintainer diagnostics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37960" y="914400"/>
            <a:ext cx="5650992" cy="553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8" name="Text 26"/>
          <p:cNvSpPr/>
          <p:nvPr/>
        </p:nvSpPr>
        <p:spPr>
          <a:xfrm>
            <a:off x="6766560" y="1078992"/>
            <a:ext cx="5193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 trace / diagram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20840" y="1417320"/>
            <a:ext cx="5285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trace diagram from the model (zoom in when presenting).</a:t>
            </a:r>
            <a:endParaRPr lang="en-US" sz="1200" dirty="0"/>
          </a:p>
        </p:txBody>
      </p:sp>
      <p:pic>
        <p:nvPicPr>
          <p:cNvPr id="30" name="Image 0" descr="/mnt/data/doc_images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3439262"/>
            <a:ext cx="5285232" cy="939597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6720840" y="1783080"/>
            <a:ext cx="5285232" cy="42519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85A1065-F232-72CC-84CD-5476FB3A7C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5150" y="-2146"/>
            <a:ext cx="1316850" cy="7132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A3EA9"/>
          </a:solidFill>
          <a:ln w="12700">
            <a:solidFill>
              <a:srgbClr val="0A3EA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94360" y="118872"/>
            <a:ext cx="110029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 (Highlights)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qualities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" y="1353312"/>
            <a:ext cx="5760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914400" y="15727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63240" y="157276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Latency budgets; near-real-time processing</a:t>
            </a:r>
            <a:endParaRPr lang="en-US" sz="1300" dirty="0">
              <a:highlight>
                <a:srgbClr val="FFFF00"/>
              </a:highlight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2139696"/>
            <a:ext cx="5257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914400" y="2286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63240" y="228600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degradation; channel redundancy; partial-outage continuity</a:t>
            </a:r>
            <a:endParaRPr lang="en-US" sz="1300" dirty="0">
              <a:highlight>
                <a:srgbClr val="FFFF00"/>
              </a:highlight>
            </a:endParaRPr>
          </a:p>
        </p:txBody>
      </p:sp>
      <p:sp>
        <p:nvSpPr>
          <p:cNvPr id="11" name="Shape 9"/>
          <p:cNvSpPr/>
          <p:nvPr/>
        </p:nvSpPr>
        <p:spPr>
          <a:xfrm>
            <a:off x="914400" y="2852928"/>
            <a:ext cx="5257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914400" y="29992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63240" y="299923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RBAC; secure comms; auditability/non-repudiation; anti-spoofing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3566160"/>
            <a:ext cx="5257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914400" y="371246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63240" y="3712464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actionable alerts; operator situational awareness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4279392"/>
            <a:ext cx="5257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914400" y="44256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063240" y="4425696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data/alert interfaces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" y="4992624"/>
            <a:ext cx="5257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1" name="Text 19"/>
          <p:cNvSpPr/>
          <p:nvPr/>
        </p:nvSpPr>
        <p:spPr>
          <a:xfrm>
            <a:off x="914400" y="51389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Maintainability/Ops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063240" y="513892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diagnostics; config management; 24/7 operation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14400" y="5705856"/>
            <a:ext cx="5257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Shape 22"/>
          <p:cNvSpPr/>
          <p:nvPr/>
        </p:nvSpPr>
        <p:spPr>
          <a:xfrm>
            <a:off x="6537960" y="914400"/>
            <a:ext cx="5650992" cy="553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5" name="Text 23"/>
          <p:cNvSpPr/>
          <p:nvPr/>
        </p:nvSpPr>
        <p:spPr>
          <a:xfrm>
            <a:off x="6766560" y="1078992"/>
            <a:ext cx="5193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 trace / diagram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20840" y="1417320"/>
            <a:ext cx="5285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trace diagram from the model (zoom in when presenting).</a:t>
            </a:r>
            <a:endParaRPr lang="en-US" sz="1200" dirty="0"/>
          </a:p>
        </p:txBody>
      </p:sp>
      <p:pic>
        <p:nvPicPr>
          <p:cNvPr id="27" name="Image 0" descr="/mnt/data/doc_images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3601454"/>
            <a:ext cx="5285232" cy="615212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6720840" y="1783080"/>
            <a:ext cx="5285232" cy="42519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282F7D8-0EB7-62BD-8413-531D741FC4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2102" y="27370"/>
            <a:ext cx="1316850" cy="7132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A3EA9"/>
          </a:solidFill>
          <a:ln w="12700">
            <a:solidFill>
              <a:srgbClr val="0A3EA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94360" y="118872"/>
            <a:ext cx="110029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Logical Architecture</a:t>
            </a:r>
            <a:endParaRPr lang="en-US" sz="2200" dirty="0"/>
          </a:p>
        </p:txBody>
      </p:sp>
      <p:pic>
        <p:nvPicPr>
          <p:cNvPr id="4" name="Image 0" descr="/mnt/data/doc_image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24239"/>
            <a:ext cx="6537960" cy="463248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960120"/>
            <a:ext cx="6537960" cy="57607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Shape 3"/>
          <p:cNvSpPr/>
          <p:nvPr/>
        </p:nvSpPr>
        <p:spPr>
          <a:xfrm>
            <a:off x="7315200" y="960120"/>
            <a:ext cx="4873752" cy="576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" name="Text 4"/>
          <p:cNvSpPr/>
          <p:nvPr/>
        </p:nvSpPr>
        <p:spPr>
          <a:xfrm>
            <a:off x="7543800" y="1124712"/>
            <a:ext cx="4416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Subsystem roles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43800" y="16916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SensingInterfaceSubsystem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43800" y="193852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provider data, checks certainty/quality, forwards best available data.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543800" y="2487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RiskAssessmentSubsystem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543800" y="273405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fused data; determines risk; selects alert content &amp; recipients.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543800" y="328269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AlertGenerationSubsystem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543800" y="352958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and routes messages to external channels.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543800" y="407822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DataManagementSubsystem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43800" y="432511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raw and generated data for traceability &amp; reuse.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543800" y="48737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UserInterfaceSubsystem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543800" y="51206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with authorities, researchers, maintainers for queries/config/diagnostics.</a:t>
            </a:r>
            <a:endParaRPr lang="en-US" sz="12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B20F15E-94CF-5ED3-3A5B-69A8C19FE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5150" y="-16049"/>
            <a:ext cx="1316850" cy="71329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A3EA9"/>
          </a:solidFill>
          <a:ln w="12700">
            <a:solidFill>
              <a:srgbClr val="0A3EA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94360" y="118872"/>
            <a:ext cx="110029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Scope: Data → Risk → Alert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868680"/>
            <a:ext cx="43891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822960" y="10332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decision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to time constraints, the implementation focuses on a streamlined pipeline: ingest raw sensor data, assess risk, and generate alerts.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5146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choices to handle latency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926080"/>
            <a:ext cx="43891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Subsystems loop quickly back to collection states (reduced delay timers).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generate data at a slower cadence to avoid overwriting while processing.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gates require both data types before advancing to functional states.</a:t>
            </a:r>
            <a:endParaRPr lang="en-US" sz="1400" dirty="0"/>
          </a:p>
        </p:txBody>
      </p:sp>
      <p:pic>
        <p:nvPicPr>
          <p:cNvPr id="9" name="Image 0" descr="/mnt/data/doc_images/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2307235"/>
            <a:ext cx="6931152" cy="290189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257800" y="868680"/>
            <a:ext cx="6931152" cy="57790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E5CC8CB-B289-A241-C588-0AAFCF2B34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5150" y="0"/>
            <a:ext cx="1316850" cy="7132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A3EA9"/>
          </a:solidFill>
          <a:ln w="12700">
            <a:solidFill>
              <a:srgbClr val="0A3EA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94360" y="118872"/>
            <a:ext cx="110029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Behavior: Data Providers (Statecharts)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868680"/>
            <a:ext cx="1100297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822960" y="1033272"/>
            <a:ext cx="10545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45775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continuously loop between idle and “send data” states to simulate periodic data generation.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856232"/>
            <a:ext cx="5897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MetOceanDataProvider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11112" y="1856232"/>
            <a:ext cx="5577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SeismicTsunamiNetwork</a:t>
            </a:r>
            <a:endParaRPr lang="en-US" sz="1200" dirty="0"/>
          </a:p>
        </p:txBody>
      </p:sp>
      <p:pic>
        <p:nvPicPr>
          <p:cNvPr id="9" name="Image 0" descr="/mnt/data/doc_images/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79" y="2029968"/>
            <a:ext cx="5343642" cy="455371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94360" y="2029968"/>
            <a:ext cx="5897880" cy="45537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11" name="Image 1" descr="/mnt/data/doc_images/image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4941" y="2029968"/>
            <a:ext cx="5470182" cy="455371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11112" y="2029968"/>
            <a:ext cx="5577840" cy="45537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65D4979-9F77-6883-7AE2-EF46382B56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2102" y="0"/>
            <a:ext cx="1316850" cy="7132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A3EA9"/>
          </a:solidFill>
          <a:ln w="12700">
            <a:solidFill>
              <a:srgbClr val="0A3EA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94360" y="118872"/>
            <a:ext cx="110029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Behavior: Core Subsystems (Statecharts)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pattern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1280160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→ CollectData → Functional state (with separate substates for seismic vs met/ocean).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Subsystem advances only after receiving both data types to avoid race conditions.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SensingInterfaceSubsystem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617720" y="2148840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RiskAssessmentSubsystem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41080" y="2148840"/>
            <a:ext cx="3547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AlertingSubsystem</a:t>
            </a:r>
            <a:endParaRPr lang="en-US" sz="1150" dirty="0"/>
          </a:p>
        </p:txBody>
      </p:sp>
      <p:pic>
        <p:nvPicPr>
          <p:cNvPr id="9" name="Image 0" descr="/mnt/data/doc_images/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715251"/>
            <a:ext cx="3886200" cy="166777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94360" y="2331720"/>
            <a:ext cx="3886200" cy="44348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11" name="Image 1" descr="/mnt/data/doc_images/image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3581341"/>
            <a:ext cx="3886200" cy="193559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617720" y="2331720"/>
            <a:ext cx="3886200" cy="44348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13" name="Image 2" descr="/mnt/data/doc_images/image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3679361"/>
            <a:ext cx="3547872" cy="1739557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641080" y="2331720"/>
            <a:ext cx="3547872" cy="44348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AFDAC9A-BC74-1CC5-1302-FC99E15971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5150" y="-9514"/>
            <a:ext cx="1316850" cy="71329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A3EA9"/>
          </a:solidFill>
          <a:ln w="12700">
            <a:solidFill>
              <a:srgbClr val="0A3EA9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594360" y="118872"/>
            <a:ext cx="110029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Diagrams: Inputs &amp; Outputs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868680"/>
            <a:ext cx="1100297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5" name="Text 3"/>
          <p:cNvSpPr/>
          <p:nvPr/>
        </p:nvSpPr>
        <p:spPr>
          <a:xfrm>
            <a:off x="822960" y="1033272"/>
            <a:ext cx="10545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panels show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45775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for selecting test cases (normal/prediction/alert) plus simulated delivery indicators and message outputs.</a:t>
            </a:r>
            <a:endParaRPr lang="en-US" sz="1300" dirty="0"/>
          </a:p>
        </p:txBody>
      </p:sp>
      <p:pic>
        <p:nvPicPr>
          <p:cNvPr id="7" name="Image 0" descr="/mnt/data/doc_images/imag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479468"/>
            <a:ext cx="5806440" cy="35449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874520"/>
            <a:ext cx="5806440" cy="47548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9" name="Image 1" descr="/mnt/data/doc_images/imag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2838712"/>
            <a:ext cx="5577840" cy="282649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611112" y="1874520"/>
            <a:ext cx="5577840" cy="47548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ED1BDB-68D1-2E03-8D22-AD96705F4F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5150" y="22829"/>
            <a:ext cx="1316850" cy="71329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6BB80C-09D5-8E70-412F-98A9C5EBC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E4CD696-6619-1FB5-6A2A-BDCD7EFB9B58}"/>
              </a:ext>
            </a:extLst>
          </p:cNvPr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A3EA9"/>
          </a:solidFill>
          <a:ln w="12700">
            <a:solidFill>
              <a:srgbClr val="0A3EA9"/>
            </a:solidFill>
            <a:prstDash val="solid"/>
          </a:ln>
        </p:spPr>
        <p:txBody>
          <a:bodyPr/>
          <a:lstStyle/>
          <a:p>
            <a:endParaRPr lang="en-NL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20C24D1-22E3-C6EF-F9FD-782543EF92E5}"/>
              </a:ext>
            </a:extLst>
          </p:cNvPr>
          <p:cNvSpPr/>
          <p:nvPr/>
        </p:nvSpPr>
        <p:spPr>
          <a:xfrm>
            <a:off x="594360" y="118872"/>
            <a:ext cx="110029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Video Folder Link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C0DC796-CBFF-6AD9-07A4-D48FBDD90504}"/>
              </a:ext>
            </a:extLst>
          </p:cNvPr>
          <p:cNvSpPr/>
          <p:nvPr/>
        </p:nvSpPr>
        <p:spPr>
          <a:xfrm>
            <a:off x="822960" y="1033272"/>
            <a:ext cx="10545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396F6F9B-0EE9-09C7-1D91-6B9F4BF23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25963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SYSML Video</a:t>
            </a:r>
            <a:endParaRPr kumimoji="0" lang="en-NL" altLang="en-N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920829D-0B60-0BD7-901D-4886B8E73D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5150" y="0"/>
            <a:ext cx="1316850" cy="71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8055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EA9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C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/ Discussion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1368</Words>
  <Application>Microsoft Office PowerPoint</Application>
  <PresentationFormat>Widescreen</PresentationFormat>
  <Paragraphs>174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Auto-generated from Word document</dc:creator>
  <cp:lastModifiedBy>Mondal, Saptarshi</cp:lastModifiedBy>
  <cp:revision>3</cp:revision>
  <dcterms:created xsi:type="dcterms:W3CDTF">2025-12-31T15:47:43Z</dcterms:created>
  <dcterms:modified xsi:type="dcterms:W3CDTF">2025-12-31T16:15:33Z</dcterms:modified>
</cp:coreProperties>
</file>